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65" r:id="rId2"/>
    <p:sldMasterId id="2147483677" r:id="rId3"/>
  </p:sldMasterIdLst>
  <p:notesMasterIdLst>
    <p:notesMasterId r:id="rId26"/>
  </p:notesMasterIdLst>
  <p:sldIdLst>
    <p:sldId id="256" r:id="rId4"/>
    <p:sldId id="280" r:id="rId5"/>
    <p:sldId id="281" r:id="rId6"/>
    <p:sldId id="282" r:id="rId7"/>
    <p:sldId id="285" r:id="rId8"/>
    <p:sldId id="284" r:id="rId9"/>
    <p:sldId id="261" r:id="rId10"/>
    <p:sldId id="262" r:id="rId11"/>
    <p:sldId id="263" r:id="rId12"/>
    <p:sldId id="287" r:id="rId13"/>
    <p:sldId id="266" r:id="rId14"/>
    <p:sldId id="267" r:id="rId15"/>
    <p:sldId id="268" r:id="rId16"/>
    <p:sldId id="269" r:id="rId17"/>
    <p:sldId id="271" r:id="rId18"/>
    <p:sldId id="288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6858000" cy="9144000"/>
  <p:embeddedFontLst>
    <p:embeddedFont>
      <p:font typeface="Lato Black" panose="020F0A02020204030203" pitchFamily="34" charset="0"/>
      <p:bold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libri Light" panose="020F0302020204030204" pitchFamily="34" charset="0"/>
      <p:regular r:id="rId37"/>
      <p: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B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D5B64B-6B70-4055-9013-A80726258FED}" v="3" dt="2022-07-14T13:17:52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8" y="72"/>
      </p:cViewPr>
      <p:guideLst>
        <p:guide orient="horz" pos="9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microsoft.com/office/2015/10/relationships/revisionInfo" Target="revisionInfo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BA1-4585-9439-9233949B9A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BA1-4585-9439-9233949B9A5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BA1-4585-9439-9233949B9A5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BA1-4585-9439-9233949B9A5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ABA1-4585-9439-9233949B9A5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ABA1-4585-9439-9233949B9A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Cluster Set up</c:v>
                </c:pt>
                <c:pt idx="1">
                  <c:v>Cluster Hardening</c:v>
                </c:pt>
                <c:pt idx="2">
                  <c:v>System Hardenng </c:v>
                </c:pt>
                <c:pt idx="3">
                  <c:v>Minimize Microservice Vulnerabilities</c:v>
                </c:pt>
                <c:pt idx="4">
                  <c:v>Supply Chain Security</c:v>
                </c:pt>
                <c:pt idx="5">
                  <c:v>Monitoring, Logging and Runtime Security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0.1</c:v>
                </c:pt>
                <c:pt idx="1">
                  <c:v>0.15</c:v>
                </c:pt>
                <c:pt idx="2">
                  <c:v>0.15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EB-4215-8D7F-612CA62FA96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7cf6aef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7cf6aef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bdfc3ea4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bdfc3ea49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endParaRPr dirty="0"/>
          </a:p>
        </p:txBody>
      </p:sp>
      <p:sp>
        <p:nvSpPr>
          <p:cNvPr id="116" name="Google Shape;116;g13bdfc3ea49_0_12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13bdfc3ea49_0_12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13bdfc3ea49_0_12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13bdfc3ea49_0_12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bdfc3ea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bdfc3ea49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Kim blog </a:t>
            </a:r>
            <a:endParaRPr dirty="0"/>
          </a:p>
        </p:txBody>
      </p:sp>
      <p:sp>
        <p:nvSpPr>
          <p:cNvPr id="125" name="Google Shape;125;g13bdfc3ea49_0_23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13bdfc3ea49_0_23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13bdfc3ea49_0_23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13bdfc3ea49_0_23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bdfc3ea4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bdfc3ea4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32909637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32909637e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endParaRPr dirty="0"/>
          </a:p>
        </p:txBody>
      </p:sp>
      <p:sp>
        <p:nvSpPr>
          <p:cNvPr id="157" name="Google Shape;157;p5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212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77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85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84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0296d246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0296d2460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endParaRPr dirty="0"/>
          </a:p>
        </p:txBody>
      </p:sp>
      <p:sp>
        <p:nvSpPr>
          <p:cNvPr id="167" name="Google Shape;167;g130296d2460_0_12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130296d2460_0_12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130296d2460_0_12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130296d2460_0_12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bdfc3ea49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bdfc3ea49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3029b4adf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13029b4adf8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endParaRPr dirty="0"/>
          </a:p>
        </p:txBody>
      </p:sp>
      <p:sp>
        <p:nvSpPr>
          <p:cNvPr id="187" name="Google Shape;187;g13029b4adf8_0_9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13029b4adf8_0_9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13029b4adf8_0_9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3029b4adf8_0_9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3029b4adf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13029b4adf8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endParaRPr dirty="0"/>
          </a:p>
        </p:txBody>
      </p:sp>
      <p:sp>
        <p:nvSpPr>
          <p:cNvPr id="187" name="Google Shape;187;g13029b4adf8_0_9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13029b4adf8_0_9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13029b4adf8_0_9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3029b4adf8_0_9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5019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308f2e1c7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308f2e1c70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endParaRPr dirty="0"/>
          </a:p>
        </p:txBody>
      </p:sp>
      <p:sp>
        <p:nvSpPr>
          <p:cNvPr id="197" name="Google Shape;197;g1308f2e1c70_0_2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1308f2e1c70_0_2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1308f2e1c70_0_2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1308f2e1c70_0_2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308f2e1c7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1308f2e1c70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endParaRPr dirty="0"/>
          </a:p>
        </p:txBody>
      </p:sp>
      <p:sp>
        <p:nvSpPr>
          <p:cNvPr id="207" name="Google Shape;207;g1308f2e1c70_0_13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1308f2e1c70_0_13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1308f2e1c70_0_13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1308f2e1c70_0_13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bdfc3ea4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3bdfc3ea4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0296d246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130296d2460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endParaRPr dirty="0"/>
          </a:p>
        </p:txBody>
      </p:sp>
      <p:sp>
        <p:nvSpPr>
          <p:cNvPr id="222" name="Google Shape;222;g130296d2460_0_3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130296d2460_0_3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130296d2460_0_3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130296d2460_0_3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3029b4ad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13029b4adf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endParaRPr dirty="0"/>
          </a:p>
        </p:txBody>
      </p:sp>
      <p:sp>
        <p:nvSpPr>
          <p:cNvPr id="232" name="Google Shape;232;g13029b4adf8_0_0:notes"/>
          <p:cNvSpPr txBox="1">
            <a:spLocks noGrp="1"/>
          </p:cNvSpPr>
          <p:nvPr>
            <p:ph type="sldNum" idx="12"/>
          </p:nvPr>
        </p:nvSpPr>
        <p:spPr>
          <a:xfrm>
            <a:off x="6172200" y="8627703"/>
            <a:ext cx="68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13029b4adf8_0_0:notes"/>
          <p:cNvSpPr txBox="1">
            <a:spLocks noGrp="1"/>
          </p:cNvSpPr>
          <p:nvPr>
            <p:ph type="dt" idx="10"/>
          </p:nvPr>
        </p:nvSpPr>
        <p:spPr>
          <a:xfrm>
            <a:off x="5704935" y="112712"/>
            <a:ext cx="1151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11/14/2019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13029b4adf8_0_0:notes"/>
          <p:cNvSpPr txBox="1">
            <a:spLocks noGrp="1"/>
          </p:cNvSpPr>
          <p:nvPr>
            <p:ph type="ftr" idx="11"/>
          </p:nvPr>
        </p:nvSpPr>
        <p:spPr>
          <a:xfrm>
            <a:off x="1654114" y="8627703"/>
            <a:ext cx="451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13029b4adf8_0_0:notes"/>
          <p:cNvSpPr txBox="1">
            <a:spLocks noGrp="1"/>
          </p:cNvSpPr>
          <p:nvPr>
            <p:ph type="hdr" idx="3"/>
          </p:nvPr>
        </p:nvSpPr>
        <p:spPr>
          <a:xfrm>
            <a:off x="575095" y="112712"/>
            <a:ext cx="5129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3bdfc3ea4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3bdfc3ea4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_Title Page">
  <p:cSld name="Title Pag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l="15627" t="22238" r="3151" b="21490"/>
          <a:stretch/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427708" y="1488297"/>
            <a:ext cx="6106692" cy="143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2427466" y="3786866"/>
            <a:ext cx="3554234" cy="23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50"/>
              <a:buNone/>
              <a:defRPr sz="14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7457" y="425716"/>
            <a:ext cx="1227146" cy="441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Chapter/Thank You">
  <p:cSld name="Chapter/Thank You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4509" t="7567" r="6020" b="9076"/>
          <a:stretch/>
        </p:blipFill>
        <p:spPr>
          <a:xfrm>
            <a:off x="0" y="-1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ctrTitle"/>
          </p:nvPr>
        </p:nvSpPr>
        <p:spPr>
          <a:xfrm>
            <a:off x="1947671" y="2228850"/>
            <a:ext cx="610669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9026" y="3920212"/>
            <a:ext cx="730675" cy="592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963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509565" y="1303964"/>
            <a:ext cx="83295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1 Column with Subtitle">
  <p:cSld name="1 Column with Sub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421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609599" y="1343283"/>
            <a:ext cx="7924801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38100" bIns="381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25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2"/>
          </p:nvPr>
        </p:nvSpPr>
        <p:spPr>
          <a:xfrm>
            <a:off x="509565" y="1733790"/>
            <a:ext cx="83295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2 columns with Subtitles">
  <p:cSld name="2 columns with Subtitle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421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609599" y="1343283"/>
            <a:ext cx="4050183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38100" bIns="381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250"/>
              <a:buFont typeface="Arial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2"/>
          </p:nvPr>
        </p:nvSpPr>
        <p:spPr>
          <a:xfrm>
            <a:off x="4827180" y="1343283"/>
            <a:ext cx="3707219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38100" bIns="381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250"/>
              <a:buFont typeface="Arial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3"/>
          </p:nvPr>
        </p:nvSpPr>
        <p:spPr>
          <a:xfrm>
            <a:off x="509565" y="1737814"/>
            <a:ext cx="4000963" cy="273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4"/>
          </p:nvPr>
        </p:nvSpPr>
        <p:spPr>
          <a:xfrm>
            <a:off x="4832815" y="1737814"/>
            <a:ext cx="4000963" cy="273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3 Columns">
  <p:cSld name="3 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421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509566" y="1155646"/>
            <a:ext cx="26121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30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200"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3293506" y="1155646"/>
            <a:ext cx="26121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30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200"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3"/>
          </p:nvPr>
        </p:nvSpPr>
        <p:spPr>
          <a:xfrm>
            <a:off x="6221784" y="1172292"/>
            <a:ext cx="26121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30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200"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3 columns with Subtitles">
  <p:cSld name="3 columns with Subtitle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509566" y="1574341"/>
            <a:ext cx="2612100" cy="27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3293506" y="1574341"/>
            <a:ext cx="2612100" cy="27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3"/>
          </p:nvPr>
        </p:nvSpPr>
        <p:spPr>
          <a:xfrm>
            <a:off x="6221784" y="1590987"/>
            <a:ext cx="2612100" cy="27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421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4"/>
          </p:nvPr>
        </p:nvSpPr>
        <p:spPr>
          <a:xfrm>
            <a:off x="609600" y="1320231"/>
            <a:ext cx="2511960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38100" bIns="381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250"/>
              <a:buNone/>
              <a:defRPr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200"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5"/>
          </p:nvPr>
        </p:nvSpPr>
        <p:spPr>
          <a:xfrm>
            <a:off x="3294524" y="1320231"/>
            <a:ext cx="2526687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38100" bIns="381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250"/>
              <a:buNone/>
              <a:defRPr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400"/>
            </a:lvl2pPr>
            <a:lvl3pPr marL="1371600" lvl="2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200"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6"/>
          </p:nvPr>
        </p:nvSpPr>
        <p:spPr>
          <a:xfrm>
            <a:off x="6221784" y="1320231"/>
            <a:ext cx="2540224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38100" bIns="381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250"/>
              <a:buNone/>
              <a:defRPr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400"/>
            </a:lvl2pPr>
            <a:lvl3pPr marL="1371600" lvl="2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1200"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1300"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6_Closing">
  <p:cSld name="Closing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/>
        </p:nvSpPr>
        <p:spPr>
          <a:xfrm>
            <a:off x="2796000" y="3162900"/>
            <a:ext cx="355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565A"/>
                </a:solidFill>
                <a:latin typeface="Lato Black"/>
                <a:ea typeface="Lato Black"/>
                <a:cs typeface="Lato Black"/>
                <a:sym typeface="Lato Black"/>
              </a:rPr>
              <a:t>Cloud Security</a:t>
            </a:r>
            <a:endParaRPr sz="2000" dirty="0">
              <a:solidFill>
                <a:srgbClr val="53565A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565A"/>
                </a:solidFill>
                <a:latin typeface="Lato Black"/>
                <a:ea typeface="Lato Black"/>
                <a:cs typeface="Lato Black"/>
                <a:sym typeface="Lato Black"/>
              </a:rPr>
              <a:t>from Source to Run</a:t>
            </a:r>
            <a:endParaRPr sz="2000" dirty="0">
              <a:solidFill>
                <a:srgbClr val="53565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48900" y="1317946"/>
            <a:ext cx="2046200" cy="1660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4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2 columns with Subtitles">
  <p:cSld name="2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421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509565" y="1308046"/>
            <a:ext cx="4000963" cy="316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2"/>
          </p:nvPr>
        </p:nvSpPr>
        <p:spPr>
          <a:xfrm>
            <a:off x="4832815" y="1308046"/>
            <a:ext cx="4000963" cy="316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95300" y="131564"/>
            <a:ext cx="8153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600250" y="4728845"/>
            <a:ext cx="31287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366899" y="4728845"/>
            <a:ext cx="202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3110889" y="4783455"/>
            <a:ext cx="29277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dirty="0"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457483" y="4783455"/>
            <a:ext cx="2104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dirty="0"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87764" y="4783455"/>
            <a:ext cx="2104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B337-453C-DFD1-7E60-5D9D39045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F6F79-30BB-F1E9-7A14-06637BFDE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23FCE-8688-D283-B33A-25032FAA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AC785-30CD-95D5-A767-846FA14FB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B9CD8-FAD1-2C01-18CD-6A3AF6CB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057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6FB9-8C32-1BCF-249A-7A612D18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5BCCD-147D-41DE-465D-EE7BEEBD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0FB75-2D60-0866-7C04-002B4E42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78825-5990-7AFF-8745-E5A6F19F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E7F5A-A107-CD21-48EE-D1AE976E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413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57A79-1750-0155-BB8B-B769C983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DA01A-93EB-5B13-E210-33A657B70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3812F-1471-3FE8-5582-B3939B2F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70C56-A42D-81D0-ECCD-7375B193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1EF5-AA38-B5EB-92BB-89938CD4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68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C180-ACDE-5BBC-F59E-67DBB96F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7EC43-B8D0-749C-03E0-78FB6183B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7A88F-07F0-D700-E3D2-6B5015334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BC5E2-B64D-18D9-4A12-105DA65A5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D3EF4-882B-C910-2F7C-B190941B3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AB0B-7B50-A97A-FF6A-45EC5DD4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96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2303-1340-81E7-DB6D-7FF2D0A2B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D6B34-F1E4-AC91-6772-D79A7EB9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050FF-EE48-9658-A9BF-C77BB5082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BDEE2-B00D-8D79-5B65-D2E88804A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A88ED-CB2F-6D22-E948-0A54B67CE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657D4-6941-673B-96A0-5EF79A4E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F497F-C297-2358-D830-9FC3EBB57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B8D201-5BB2-C5AB-EB6A-3A57996D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307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0BBD-7F00-5921-05B3-AB4705F7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A20FF-F23E-008D-5A59-B4A0AEBCF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916B5-359E-6C6B-6414-93DDD5B4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00266-94D9-A51F-6E7E-C1A7040C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455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17B662-76A3-AF5C-6665-98390220B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9D475-70B9-F78B-C7A6-60E083451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6265A-1C5E-C02C-570C-5ED17278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8669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A4163-658C-9F13-A881-8E5F4FDC8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6F104-67B2-E064-79F8-2047B2E7B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AE356-4C37-074F-C9B2-7D43D676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2EE37-8DDC-E87D-E401-96E97EE6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69B8D-E7A1-A0EB-26D9-69957614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67ED2-00EB-B27B-5371-E4D40D50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770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C40C-F305-D62B-FEE7-D42C5519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2F10E-0C96-3AD0-F0D1-66D1E6CC0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C64A5-645B-FFF5-DA64-0774AFB97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E11AB-475D-1F8B-6EBE-EB99AA0E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7A401-2187-80BF-E548-86C6E82AE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079AB-4A82-300E-2F58-0D3105FB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44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B38A-99B6-8F3F-7211-1B520DD83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1A5D2-F0F0-8FD5-DBFC-077AF8154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A5B95-C453-4D4A-188D-E23C004E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D09E8-FFCE-FE90-ED3E-4F2C8AFD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A15D6-17D1-7EC5-2205-2915E1B9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255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EB860-D1A2-D198-72B5-25C7DDC96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E67C9-6132-94AD-EA61-0B499A6CC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CD772-3199-376C-A362-140F9A00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2B503-B05A-E987-F309-2EB6029A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8198-BB98-05D3-03AB-EF793C9B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7925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B337-453C-DFD1-7E60-5D9D39045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F6F79-30BB-F1E9-7A14-06637BFDE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23FCE-8688-D283-B33A-25032FAA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AC785-30CD-95D5-A767-846FA14FB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B9CD8-FAD1-2C01-18CD-6A3AF6CB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91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6FB9-8C32-1BCF-249A-7A612D18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5BCCD-147D-41DE-465D-EE7BEEBD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0FB75-2D60-0866-7C04-002B4E42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78825-5990-7AFF-8745-E5A6F19F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E7F5A-A107-CD21-48EE-D1AE976E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635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57A79-1750-0155-BB8B-B769C983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DA01A-93EB-5B13-E210-33A657B70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3812F-1471-3FE8-5582-B3939B2F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70C56-A42D-81D0-ECCD-7375B193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1EF5-AA38-B5EB-92BB-89938CD4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893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C180-ACDE-5BBC-F59E-67DBB96F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7EC43-B8D0-749C-03E0-78FB6183B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7A88F-07F0-D700-E3D2-6B5015334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BC5E2-B64D-18D9-4A12-105DA65A5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D3EF4-882B-C910-2F7C-B190941B3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AB0B-7B50-A97A-FF6A-45EC5DD4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9992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2303-1340-81E7-DB6D-7FF2D0A2B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D6B34-F1E4-AC91-6772-D79A7EB9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050FF-EE48-9658-A9BF-C77BB5082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BDEE2-B00D-8D79-5B65-D2E88804A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A88ED-CB2F-6D22-E948-0A54B67CE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657D4-6941-673B-96A0-5EF79A4E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F497F-C297-2358-D830-9FC3EBB57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B8D201-5BB2-C5AB-EB6A-3A57996D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3888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0BBD-7F00-5921-05B3-AB4705F7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A20FF-F23E-008D-5A59-B4A0AEBCF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916B5-359E-6C6B-6414-93DDD5B4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00266-94D9-A51F-6E7E-C1A7040C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6123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17B662-76A3-AF5C-6665-98390220B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9D475-70B9-F78B-C7A6-60E083451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6265A-1C5E-C02C-570C-5ED17278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357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A4163-658C-9F13-A881-8E5F4FDC8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6F104-67B2-E064-79F8-2047B2E7B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AE356-4C37-074F-C9B2-7D43D676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2EE37-8DDC-E87D-E401-96E97EE6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69B8D-E7A1-A0EB-26D9-69957614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67ED2-00EB-B27B-5371-E4D40D50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6533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C40C-F305-D62B-FEE7-D42C5519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2F10E-0C96-3AD0-F0D1-66D1E6CC0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C64A5-645B-FFF5-DA64-0774AFB97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E11AB-475D-1F8B-6EBE-EB99AA0E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7A401-2187-80BF-E548-86C6E82AE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079AB-4A82-300E-2F58-0D3105FB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848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B38A-99B6-8F3F-7211-1B520DD83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1A5D2-F0F0-8FD5-DBFC-077AF8154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A5B95-C453-4D4A-188D-E23C004E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D09E8-FFCE-FE90-ED3E-4F2C8AFD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A15D6-17D1-7EC5-2205-2915E1B9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2002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EB860-D1A2-D198-72B5-25C7DDC96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E67C9-6132-94AD-EA61-0B499A6CC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CD772-3199-376C-A362-140F9A00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2B503-B05A-E987-F309-2EB6029A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8198-BB98-05D3-03AB-EF793C9B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024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509566" y="120833"/>
            <a:ext cx="832963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509565" y="1303964"/>
            <a:ext cx="83295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189" lvl="0" indent="-342892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378" lvl="1" indent="-33019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marL="1371566" lvl="2" indent="-31749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754" lvl="3" indent="-342892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132" lvl="5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320" lvl="6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509" lvl="7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697" lvl="8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734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421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094694" y="4629828"/>
            <a:ext cx="739084" cy="26602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/>
          <p:nvPr/>
        </p:nvSpPr>
        <p:spPr>
          <a:xfrm>
            <a:off x="605771" y="4734808"/>
            <a:ext cx="15478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 Sysdig Inc. Proprietary Information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326430" y="4737639"/>
            <a:ext cx="230587" cy="177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512435" y="1304024"/>
            <a:ext cx="7886700" cy="317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356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3565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3565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3565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3565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3565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720">
          <p15:clr>
            <a:srgbClr val="F26B43"/>
          </p15:clr>
        </p15:guide>
        <p15:guide id="2" pos="5568">
          <p15:clr>
            <a:srgbClr val="F26B43"/>
          </p15:clr>
        </p15:guide>
        <p15:guide id="3" pos="192">
          <p15:clr>
            <a:srgbClr val="F26B43"/>
          </p15:clr>
        </p15:guide>
        <p15:guide id="4" pos="384">
          <p15:clr>
            <a:srgbClr val="F26B43"/>
          </p15:clr>
        </p15:guide>
        <p15:guide id="5" pos="2040">
          <p15:clr>
            <a:srgbClr val="F26B43"/>
          </p15:clr>
        </p15:guide>
        <p15:guide id="6" orient="horz" pos="3084">
          <p15:clr>
            <a:srgbClr val="F26B43"/>
          </p15:clr>
        </p15:guide>
        <p15:guide id="7" orient="horz" pos="156">
          <p15:clr>
            <a:srgbClr val="F26B43"/>
          </p15:clr>
        </p15:guide>
        <p15:guide id="8" orient="horz" pos="2820">
          <p15:clr>
            <a:srgbClr val="F26B43"/>
          </p15:clr>
        </p15:guide>
        <p15:guide id="9" orient="horz" pos="684">
          <p15:clr>
            <a:srgbClr val="F26B43"/>
          </p15:clr>
        </p15:guide>
        <p15:guide id="10" orient="horz" pos="1212">
          <p15:clr>
            <a:srgbClr val="F26B43"/>
          </p15:clr>
        </p15:guide>
        <p15:guide id="11" orient="horz" pos="1740">
          <p15:clr>
            <a:srgbClr val="F26B43"/>
          </p15:clr>
        </p15:guide>
        <p15:guide id="12" pos="5376">
          <p15:clr>
            <a:srgbClr val="F26B43"/>
          </p15:clr>
        </p15:guide>
        <p15:guide id="13" orient="horz" pos="229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CBE20B-5FAD-DA1D-FE05-2073EABF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4BE8E-8AE9-21EB-9D37-B4FCE244A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C4733-02D8-B4AA-F08F-79011FADF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47D4B-C87E-7AB4-6D32-CB34DC09E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A15F4-4C21-CD55-6090-B2E9011E0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488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CBE20B-5FAD-DA1D-FE05-2073EABF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4BE8E-8AE9-21EB-9D37-B4FCE244A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C4733-02D8-B4AA-F08F-79011FADF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53438-B04B-446C-A26C-93ED6215FC23}" type="datetimeFigureOut">
              <a:rPr lang="en-US" smtClean="0"/>
              <a:t>7/14/2022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47D4B-C87E-7AB4-6D32-CB34DC09E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A15F4-4C21-CD55-6090-B2E9011E0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6E192-61D3-4EF7-9656-E1D48DD5FB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80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1.jpg"/><Relationship Id="rId7" Type="http://schemas.openxmlformats.org/officeDocument/2006/relationships/image" Target="../media/image23.png"/><Relationship Id="rId12" Type="http://schemas.openxmlformats.org/officeDocument/2006/relationships/hyperlink" Target="https://www.ithands-on.com/2021/03/kubernetes-security-101-kubeconfig-fil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jakob-grabner/Circle-Progress-View" TargetMode="External"/><Relationship Id="rId11" Type="http://schemas.openxmlformats.org/officeDocument/2006/relationships/image" Target="../media/image25.jpg"/><Relationship Id="rId5" Type="http://schemas.openxmlformats.org/officeDocument/2006/relationships/image" Target="../media/image22.jpg"/><Relationship Id="rId10" Type="http://schemas.openxmlformats.org/officeDocument/2006/relationships/image" Target="../media/image24.png"/><Relationship Id="rId4" Type="http://schemas.openxmlformats.org/officeDocument/2006/relationships/hyperlink" Target="https://www.lifewire.com/select-all-messages-hotmail-folder-1174257" TargetMode="External"/><Relationship Id="rId9" Type="http://schemas.openxmlformats.org/officeDocument/2006/relationships/hyperlink" Target="https://attractionsontario.ca/contest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ditor.cilium.io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github.com/scriptcamp/vagrant-kubeadm-kubernetes" TargetMode="External"/><Relationship Id="rId7" Type="http://schemas.openxmlformats.org/officeDocument/2006/relationships/hyperlink" Target="https://www.killercoda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katacoda.com" TargetMode="External"/><Relationship Id="rId5" Type="http://schemas.openxmlformats.org/officeDocument/2006/relationships/hyperlink" Target="https://labs.play-with-k8s.com" TargetMode="External"/><Relationship Id="rId4" Type="http://schemas.openxmlformats.org/officeDocument/2006/relationships/hyperlink" Target="https://www.killershell.com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800" y="-20595"/>
            <a:ext cx="9203601" cy="5184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DC7B8-618B-E878-0714-1474D8E70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5405" y="4097827"/>
            <a:ext cx="2210756" cy="1641911"/>
          </a:xfrm>
        </p:spPr>
        <p:txBody>
          <a:bodyPr>
            <a:normAutofit/>
          </a:bodyPr>
          <a:lstStyle/>
          <a:p>
            <a:r>
              <a:rPr lang="en-US" sz="1400" b="1" dirty="0"/>
              <a:t>Author, </a:t>
            </a:r>
            <a:r>
              <a:rPr lang="en-US" sz="1400" b="1" i="1" dirty="0">
                <a:solidFill>
                  <a:srgbClr val="55B7B1"/>
                </a:solidFill>
              </a:rPr>
              <a:t>Learn CKS Scenarios</a:t>
            </a:r>
          </a:p>
          <a:p>
            <a:r>
              <a:rPr lang="en-US" sz="1400" b="1" dirty="0"/>
              <a:t>Kubernetes CKS Certification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7" y="1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61789" y="0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buClrTx/>
            </a:pP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187184"/>
            <a:ext cx="119806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7"/>
            <a:ext cx="1161135" cy="766763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buClrTx/>
            </a:pP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73321" y="4288430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buClrTx/>
            </a:pP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6;p19">
            <a:extLst>
              <a:ext uri="{FF2B5EF4-FFF2-40B4-BE49-F238E27FC236}">
                <a16:creationId xmlns:a16="http://schemas.microsoft.com/office/drawing/2014/main" id="{6DEF9C16-56BE-B593-72C9-28EB877BA533}"/>
              </a:ext>
            </a:extLst>
          </p:cNvPr>
          <p:cNvPicPr preferRelativeResize="0"/>
          <p:nvPr/>
        </p:nvPicPr>
        <p:blipFill rotWithShape="1">
          <a:blip r:embed="rId2"/>
          <a:srcRect l="25249" r="3" b="3"/>
          <a:stretch/>
        </p:blipFill>
        <p:spPr>
          <a:xfrm>
            <a:off x="473880" y="449040"/>
            <a:ext cx="3883687" cy="3883687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390385" y="4694067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1" name="Google Shape;89;p19">
            <a:extLst>
              <a:ext uri="{FF2B5EF4-FFF2-40B4-BE49-F238E27FC236}">
                <a16:creationId xmlns:a16="http://schemas.microsoft.com/office/drawing/2014/main" id="{12D69A5C-61E2-C3EF-1C5A-3ACCC02422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18354">
            <a:off x="7655398" y="3495195"/>
            <a:ext cx="1082309" cy="1468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8;p19">
            <a:extLst>
              <a:ext uri="{FF2B5EF4-FFF2-40B4-BE49-F238E27FC236}">
                <a16:creationId xmlns:a16="http://schemas.microsoft.com/office/drawing/2014/main" id="{F6E6C67D-863F-FB90-6524-397129C8215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6829" y="50579"/>
            <a:ext cx="2315018" cy="9931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AF9776-B8C2-0876-6A4E-82017FF50569}"/>
              </a:ext>
            </a:extLst>
          </p:cNvPr>
          <p:cNvSpPr txBox="1"/>
          <p:nvPr/>
        </p:nvSpPr>
        <p:spPr>
          <a:xfrm>
            <a:off x="4885344" y="2287389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Director of Technical Evangelism, Civo</a:t>
            </a:r>
          </a:p>
          <a:p>
            <a:r>
              <a:rPr lang="en-US" dirty="0"/>
              <a:t>CNCF Ambassador</a:t>
            </a:r>
          </a:p>
          <a:p>
            <a:r>
              <a:rPr lang="en-US" dirty="0"/>
              <a:t>CK [A, AD, S]</a:t>
            </a:r>
          </a:p>
          <a:p>
            <a:r>
              <a:rPr lang="en-US" dirty="0"/>
              <a:t>KCNA SME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98BBB1-56D2-C1F8-750B-DC8333784E81}"/>
              </a:ext>
            </a:extLst>
          </p:cNvPr>
          <p:cNvSpPr txBox="1"/>
          <p:nvPr/>
        </p:nvSpPr>
        <p:spPr>
          <a:xfrm>
            <a:off x="4831447" y="1795705"/>
            <a:ext cx="467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b="1" dirty="0">
                <a:solidFill>
                  <a:srgbClr val="55B7B1"/>
                </a:solidFill>
              </a:rPr>
              <a:t>SAIYAM PATEK</a:t>
            </a:r>
            <a:endParaRPr lang="en-US" sz="2000" b="1" dirty="0">
              <a:solidFill>
                <a:srgbClr val="55B7B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45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7" y="1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61789" y="0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buClrTx/>
            </a:pP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187184"/>
            <a:ext cx="119806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7"/>
            <a:ext cx="1161135" cy="766763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buClrTx/>
            </a:pP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73321" y="4288430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buClrTx/>
            </a:pP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6;p19">
            <a:extLst>
              <a:ext uri="{FF2B5EF4-FFF2-40B4-BE49-F238E27FC236}">
                <a16:creationId xmlns:a16="http://schemas.microsoft.com/office/drawing/2014/main" id="{6DEF9C16-56BE-B593-72C9-28EB877BA53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473880" y="449040"/>
            <a:ext cx="3883687" cy="3883687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390385" y="4694067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AF9776-B8C2-0876-6A4E-82017FF50569}"/>
              </a:ext>
            </a:extLst>
          </p:cNvPr>
          <p:cNvSpPr txBox="1"/>
          <p:nvPr/>
        </p:nvSpPr>
        <p:spPr>
          <a:xfrm>
            <a:off x="4885344" y="2287389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Senior Customer Solution Engineer</a:t>
            </a:r>
          </a:p>
          <a:p>
            <a:r>
              <a:rPr lang="en-US" dirty="0"/>
              <a:t>Sysdig</a:t>
            </a:r>
          </a:p>
          <a:p>
            <a:r>
              <a:rPr lang="en-US" dirty="0"/>
              <a:t>CK [A,S]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98BBB1-56D2-C1F8-750B-DC8333784E81}"/>
              </a:ext>
            </a:extLst>
          </p:cNvPr>
          <p:cNvSpPr txBox="1"/>
          <p:nvPr/>
        </p:nvSpPr>
        <p:spPr>
          <a:xfrm>
            <a:off x="4831447" y="1795705"/>
            <a:ext cx="467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b="1" dirty="0">
                <a:solidFill>
                  <a:srgbClr val="55B7B1"/>
                </a:solidFill>
              </a:rPr>
              <a:t>DANIEL LEMOS</a:t>
            </a:r>
            <a:endParaRPr lang="en-US" sz="2000" b="1" dirty="0">
              <a:solidFill>
                <a:srgbClr val="55B7B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64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DAC606-D52B-04CE-CDAA-C54BA1EC9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842" y="2109904"/>
            <a:ext cx="4691021" cy="685800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Did you know that there is a new exam terminal?</a:t>
            </a:r>
          </a:p>
        </p:txBody>
      </p:sp>
      <p:pic>
        <p:nvPicPr>
          <p:cNvPr id="6" name="Picture 5" descr="A person wearing glasses and a purple shirt holding up his middle finger&#10;&#10;Description automatically generated with medium confidence">
            <a:extLst>
              <a:ext uri="{FF2B5EF4-FFF2-40B4-BE49-F238E27FC236}">
                <a16:creationId xmlns:a16="http://schemas.microsoft.com/office/drawing/2014/main" id="{02868C8A-1D19-41AC-91B8-C6EADE340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4" b="98553" l="9961" r="89844">
                        <a14:foregroundMark x1="28027" y1="69465" x2="16797" y2="98553"/>
                        <a14:foregroundMark x1="32227" y1="10130" x2="44043" y2="3184"/>
                        <a14:foregroundMark x1="44043" y1="3184" x2="52584" y2="8042"/>
                        <a14:backgroundMark x1="54688" y1="6802" x2="52051" y2="6802"/>
                        <a14:backgroundMark x1="40625" y1="579" x2="41406" y2="5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1892" y="2034974"/>
            <a:ext cx="4606556" cy="31085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CBF1B8D-5592-F6B2-EBD6-B3E2D231E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288" y="762806"/>
            <a:ext cx="698810" cy="524108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5030419E-3BAC-475E-0E29-6992233F7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903168" y="1950302"/>
            <a:ext cx="670002" cy="50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7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A70672-9978-8970-EB6E-B4007AD3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 me…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2A342-56B7-F3DB-1E5D-4C7530F06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6839" y="1149533"/>
            <a:ext cx="3412273" cy="3165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Effective June 25, 2022, The Linux Foundation migrated the CKA, CKAD and CKS programs from PSI’s ExamsLocal proctoring platform to PSI Bridge. There were no changes to the exam content. 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5B4E3B-3B3A-7C89-3DFF-E2756C512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325601"/>
            <a:ext cx="4958576" cy="309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916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2;p22">
            <a:extLst>
              <a:ext uri="{FF2B5EF4-FFF2-40B4-BE49-F238E27FC236}">
                <a16:creationId xmlns:a16="http://schemas.microsoft.com/office/drawing/2014/main" id="{E6F3D287-514D-E814-269E-F8DBD3DFB77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4760" y="867843"/>
            <a:ext cx="7114477" cy="430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05A647-F472-D51F-06D9-DEC10DF2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92" y="-50620"/>
            <a:ext cx="8151215" cy="1028700"/>
          </a:xfrm>
        </p:spPr>
        <p:txBody>
          <a:bodyPr/>
          <a:lstStyle/>
          <a:p>
            <a:r>
              <a:rPr lang="en-US" dirty="0"/>
              <a:t>The new CKS Exam Terminal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203E0-2B9C-9D7C-A7AD-A32FA8A2B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793" y="1245709"/>
            <a:ext cx="2252865" cy="312393"/>
          </a:xfrm>
        </p:spPr>
        <p:txBody>
          <a:bodyPr/>
          <a:lstStyle/>
          <a:p>
            <a:pPr marL="0" indent="0"/>
            <a:r>
              <a:rPr lang="en" dirty="0"/>
              <a:t>PSI bridge with remote desktop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31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1" y="1244501"/>
            <a:ext cx="8839197" cy="291918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C3116C-024F-5BF1-244F-9C0FF0B2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Change?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055" y="912757"/>
            <a:ext cx="6841176" cy="36891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DE16C0-876E-462E-8FC9-BFCA7686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13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4545E-AB40-7C16-4B9E-CEC6299DC6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58" b="414"/>
          <a:stretch/>
        </p:blipFill>
        <p:spPr>
          <a:xfrm>
            <a:off x="1" y="7"/>
            <a:ext cx="7252232" cy="51434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4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A8A4E6-A603-4B35-D71B-57FF6862E430}"/>
              </a:ext>
            </a:extLst>
          </p:cNvPr>
          <p:cNvSpPr txBox="1"/>
          <p:nvPr/>
        </p:nvSpPr>
        <p:spPr>
          <a:xfrm>
            <a:off x="5531005" y="2656218"/>
            <a:ext cx="31966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0AEC7"/>
                </a:solidFill>
              </a:rPr>
              <a:t>The CKS Exam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29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9500" cy="1028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Certified Kubernetes Specialist</a:t>
            </a:r>
            <a:endParaRPr dirty="0"/>
          </a:p>
        </p:txBody>
      </p:sp>
      <p:sp>
        <p:nvSpPr>
          <p:cNvPr id="151" name="Google Shape;151;p28"/>
          <p:cNvSpPr txBox="1">
            <a:spLocks noGrp="1"/>
          </p:cNvSpPr>
          <p:nvPr>
            <p:ph type="body" idx="1"/>
          </p:nvPr>
        </p:nvSpPr>
        <p:spPr>
          <a:xfrm>
            <a:off x="509564" y="1085850"/>
            <a:ext cx="5883801" cy="316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877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50"/>
              <a:buChar char="●"/>
            </a:pPr>
            <a:r>
              <a:rPr lang="en" sz="2050" dirty="0">
                <a:solidFill>
                  <a:schemeClr val="dk1"/>
                </a:solidFill>
                <a:highlight>
                  <a:srgbClr val="FDFDFD"/>
                </a:highlight>
              </a:rPr>
              <a:t>The Certified Kubernetes Security Specialist (CKS) program was created by the Cloud Native Computing Foundation (CNCF), in collaboration with The Linux Foundation, to help develop the Kubernetes ecosystem.</a:t>
            </a:r>
            <a:endParaRPr sz="2050" dirty="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50" dirty="0">
              <a:solidFill>
                <a:schemeClr val="dk1"/>
              </a:solidFill>
              <a:highlight>
                <a:srgbClr val="FDFDFD"/>
              </a:highlight>
            </a:endParaRPr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486" y="450315"/>
            <a:ext cx="1945979" cy="369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1940" y="1465012"/>
            <a:ext cx="1636750" cy="221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>
            <a:spLocks noGrp="1"/>
          </p:cNvSpPr>
          <p:nvPr>
            <p:ph type="title" idx="4294967295"/>
          </p:nvPr>
        </p:nvSpPr>
        <p:spPr>
          <a:xfrm>
            <a:off x="814388" y="120650"/>
            <a:ext cx="8329612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CKS Exam V1.23 details</a:t>
            </a:r>
            <a:endParaRPr dirty="0"/>
          </a:p>
        </p:txBody>
      </p:sp>
      <p:pic>
        <p:nvPicPr>
          <p:cNvPr id="5" name="Picture 4" descr="Shape, arrow&#10;&#10;Description automatically generated">
            <a:extLst>
              <a:ext uri="{FF2B5EF4-FFF2-40B4-BE49-F238E27FC236}">
                <a16:creationId xmlns:a16="http://schemas.microsoft.com/office/drawing/2014/main" id="{104BE706-7B4A-EA68-DE4B-53AADD889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1009605" y="1393212"/>
            <a:ext cx="777449" cy="5830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5E0992-DAC8-D974-9F6F-78E8E8729404}"/>
              </a:ext>
            </a:extLst>
          </p:cNvPr>
          <p:cNvSpPr txBox="1"/>
          <p:nvPr/>
        </p:nvSpPr>
        <p:spPr>
          <a:xfrm>
            <a:off x="1982271" y="1452542"/>
            <a:ext cx="3310841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dirty="0"/>
              <a:t>The exams consist of 15-20 performance-based tasks. - 100 marks</a:t>
            </a:r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6B73D07-22F2-328F-4C44-9CCE0BE1F4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034783" y="2254706"/>
            <a:ext cx="802074" cy="8020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408DD6-08AB-D4A3-032D-3111FE838D25}"/>
              </a:ext>
            </a:extLst>
          </p:cNvPr>
          <p:cNvSpPr txBox="1"/>
          <p:nvPr/>
        </p:nvSpPr>
        <p:spPr>
          <a:xfrm>
            <a:off x="1982271" y="2275769"/>
            <a:ext cx="3206763" cy="81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You have two hours to complete  - no count down timer but progress indicator. </a:t>
            </a:r>
          </a:p>
        </p:txBody>
      </p:sp>
      <p:pic>
        <p:nvPicPr>
          <p:cNvPr id="22" name="Picture 2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42B2BF7-ADF2-ECAF-E064-744D35FF30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232" b="96010" l="4808" r="95433">
                        <a14:foregroundMark x1="54087" y1="45586" x2="65024" y2="39299"/>
                        <a14:foregroundMark x1="63702" y1="39782" x2="35577" y2="62878"/>
                        <a14:foregroundMark x1="35577" y1="62878" x2="63702" y2="68561"/>
                        <a14:foregroundMark x1="23798" y1="36276" x2="42188" y2="59976"/>
                        <a14:foregroundMark x1="42188" y1="59976" x2="51923" y2="59734"/>
                        <a14:foregroundMark x1="39183" y1="56106" x2="49279" y2="56590"/>
                        <a14:foregroundMark x1="27284" y1="33132" x2="43510" y2="44619"/>
                        <a14:foregroundMark x1="17548" y1="29141" x2="30889" y2="80532"/>
                        <a14:foregroundMark x1="30889" y1="80532" x2="67788" y2="76542"/>
                        <a14:foregroundMark x1="67788" y1="76542" x2="70313" y2="30109"/>
                        <a14:foregroundMark x1="70313" y1="30109" x2="13221" y2="27811"/>
                        <a14:foregroundMark x1="21154" y1="29625" x2="19351" y2="59008"/>
                        <a14:foregroundMark x1="19351" y1="59008" x2="49038" y2="71221"/>
                        <a14:foregroundMark x1="49038" y1="71221" x2="76442" y2="57920"/>
                        <a14:foregroundMark x1="76442" y1="57920" x2="57813" y2="35067"/>
                        <a14:foregroundMark x1="57813" y1="35067" x2="20192" y2="30109"/>
                        <a14:foregroundMark x1="26803" y1="47763" x2="26803" y2="47763"/>
                        <a14:foregroundMark x1="26803" y1="47763" x2="28606" y2="49093"/>
                        <a14:foregroundMark x1="25000" y1="47763" x2="28606" y2="46917"/>
                        <a14:foregroundMark x1="29928" y1="53930" x2="36538" y2="58404"/>
                        <a14:foregroundMark x1="56250" y1="51753" x2="69952" y2="50786"/>
                        <a14:foregroundMark x1="21154" y1="62394" x2="62380" y2="73398"/>
                        <a14:foregroundMark x1="62380" y1="73398" x2="76082" y2="72551"/>
                        <a14:foregroundMark x1="76082" y1="72551" x2="73438" y2="64933"/>
                        <a14:foregroundMark x1="84014" y1="31802" x2="90986" y2="29625"/>
                        <a14:foregroundMark x1="87019" y1="36638" x2="94471" y2="34946"/>
                        <a14:foregroundMark x1="88822" y1="43773" x2="95433" y2="43289"/>
                        <a14:foregroundMark x1="91466" y1="26119" x2="98918" y2="59492"/>
                        <a14:foregroundMark x1="98918" y1="59492" x2="82692" y2="83918"/>
                        <a14:foregroundMark x1="82692" y1="83918" x2="53606" y2="91052"/>
                        <a14:foregroundMark x1="53606" y1="91052" x2="26322" y2="83071"/>
                        <a14:foregroundMark x1="83053" y1="81378" x2="53245" y2="92866"/>
                        <a14:foregroundMark x1="53245" y1="92866" x2="31611" y2="92019"/>
                        <a14:foregroundMark x1="80409" y1="84401" x2="46635" y2="93591"/>
                        <a14:foregroundMark x1="46635" y1="93591" x2="32091" y2="92866"/>
                        <a14:foregroundMark x1="75601" y1="88392" x2="46154" y2="95526"/>
                        <a14:foregroundMark x1="46154" y1="95526" x2="30288" y2="92019"/>
                        <a14:foregroundMark x1="35577" y1="94196" x2="35577" y2="94196"/>
                        <a14:foregroundMark x1="35577" y1="94196" x2="58894" y2="95042"/>
                        <a14:foregroundMark x1="46154" y1="95526" x2="46154" y2="95526"/>
                        <a14:foregroundMark x1="46154" y1="95526" x2="52764" y2="96010"/>
                        <a14:foregroundMark x1="31611" y1="89722" x2="10577" y2="69770"/>
                        <a14:foregroundMark x1="10577" y1="69770" x2="4808" y2="41596"/>
                        <a14:foregroundMark x1="4808" y1="41596" x2="18510" y2="13906"/>
                        <a14:foregroundMark x1="18510" y1="13906" x2="52764" y2="4353"/>
                        <a14:foregroundMark x1="52764" y1="4353" x2="80409" y2="14994"/>
                        <a14:foregroundMark x1="80409" y1="14994" x2="80409" y2="14994"/>
                        <a14:foregroundMark x1="4808" y1="37969" x2="7091" y2="65901"/>
                        <a14:foregroundMark x1="91947" y1="47279" x2="89663" y2="65901"/>
                        <a14:foregroundMark x1="90986" y1="64571" x2="93149" y2="63241"/>
                        <a14:foregroundMark x1="87019" y1="66264" x2="87019" y2="68561"/>
                        <a14:foregroundMark x1="87019" y1="68561" x2="91466" y2="63724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1072274" y="3326700"/>
            <a:ext cx="727091" cy="7227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0807FFD-A220-B959-1E58-FB1DAFA2F638}"/>
              </a:ext>
            </a:extLst>
          </p:cNvPr>
          <p:cNvSpPr txBox="1"/>
          <p:nvPr/>
        </p:nvSpPr>
        <p:spPr>
          <a:xfrm>
            <a:off x="1982271" y="3528562"/>
            <a:ext cx="2738412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You get your results in 24 hours</a:t>
            </a:r>
          </a:p>
        </p:txBody>
      </p: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D9F1C9BD-AEB8-8593-122D-8F9D6A1472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8329" y="1285220"/>
            <a:ext cx="938445" cy="90805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730951E-5044-D319-46B9-3DCF477EE821}"/>
              </a:ext>
            </a:extLst>
          </p:cNvPr>
          <p:cNvSpPr txBox="1"/>
          <p:nvPr/>
        </p:nvSpPr>
        <p:spPr>
          <a:xfrm>
            <a:off x="6380530" y="1576422"/>
            <a:ext cx="4467922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Total of 16 clusters</a:t>
            </a:r>
          </a:p>
        </p:txBody>
      </p:sp>
      <p:pic>
        <p:nvPicPr>
          <p:cNvPr id="26" name="Picture 2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51B67F0-EB33-B189-A803-77528A940A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xmlns="" r:id="rId12"/>
              </a:ext>
            </a:extLst>
          </a:blip>
          <a:stretch>
            <a:fillRect/>
          </a:stretch>
        </p:blipFill>
        <p:spPr>
          <a:xfrm>
            <a:off x="5559056" y="2293223"/>
            <a:ext cx="2936731" cy="138021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6F19EC7-DF95-D475-BE26-239DE82D9DA7}"/>
              </a:ext>
            </a:extLst>
          </p:cNvPr>
          <p:cNvSpPr txBox="1"/>
          <p:nvPr/>
        </p:nvSpPr>
        <p:spPr>
          <a:xfrm>
            <a:off x="7020480" y="3105363"/>
            <a:ext cx="1982271" cy="113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00" dirty="0"/>
              <a:t>Context switch before every question - kubectl config use-context &lt;cluster/context name&gt;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0A4A039-6BE9-CDC6-61B6-B1A2E7403360}"/>
              </a:ext>
            </a:extLst>
          </p:cNvPr>
          <p:cNvCxnSpPr/>
          <p:nvPr/>
        </p:nvCxnSpPr>
        <p:spPr>
          <a:xfrm>
            <a:off x="7768683" y="3056780"/>
            <a:ext cx="0" cy="1101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509565" y="127483"/>
            <a:ext cx="8329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CKS Exam outline</a:t>
            </a:r>
            <a:endParaRPr dirty="0"/>
          </a:p>
        </p:txBody>
      </p:sp>
      <p:sp>
        <p:nvSpPr>
          <p:cNvPr id="173" name="Google Shape;173;p30"/>
          <p:cNvSpPr txBox="1">
            <a:spLocks noGrp="1"/>
          </p:cNvSpPr>
          <p:nvPr>
            <p:ph type="body" idx="1"/>
          </p:nvPr>
        </p:nvSpPr>
        <p:spPr>
          <a:xfrm>
            <a:off x="509565" y="989250"/>
            <a:ext cx="8329500" cy="3165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highlight>
                  <a:schemeClr val="lt1"/>
                </a:highlight>
              </a:rPr>
              <a:t>From the CKS Exam Curriculum repository, The exam will test domains and competencies including:</a:t>
            </a:r>
            <a:endParaRPr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3336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FF9E891-B963-7439-EBCB-B556CD61AF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2512525"/>
              </p:ext>
            </p:extLst>
          </p:nvPr>
        </p:nvGraphicFramePr>
        <p:xfrm>
          <a:off x="726783" y="1623940"/>
          <a:ext cx="7895063" cy="3125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597E693-8D20-53F8-E5BB-3B53E8B1B23E}"/>
              </a:ext>
            </a:extLst>
          </p:cNvPr>
          <p:cNvSpPr txBox="1"/>
          <p:nvPr/>
        </p:nvSpPr>
        <p:spPr>
          <a:xfrm>
            <a:off x="4895385" y="172964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Cluster Setup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E4A748-0A0E-A18A-1FB4-E27EE9A98DF7}"/>
              </a:ext>
            </a:extLst>
          </p:cNvPr>
          <p:cNvSpPr txBox="1"/>
          <p:nvPr/>
        </p:nvSpPr>
        <p:spPr>
          <a:xfrm>
            <a:off x="5895277" y="2571285"/>
            <a:ext cx="4698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Cluster Hardening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8B2D91-DF65-5779-0F8D-E0A66B2E861E}"/>
              </a:ext>
            </a:extLst>
          </p:cNvPr>
          <p:cNvSpPr txBox="1"/>
          <p:nvPr/>
        </p:nvSpPr>
        <p:spPr>
          <a:xfrm>
            <a:off x="5820937" y="3596604"/>
            <a:ext cx="5293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System Hardening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D16846-2AE4-8FB9-90AF-067BAEF72BD4}"/>
              </a:ext>
            </a:extLst>
          </p:cNvPr>
          <p:cNvSpPr txBox="1"/>
          <p:nvPr/>
        </p:nvSpPr>
        <p:spPr>
          <a:xfrm>
            <a:off x="3282041" y="4439798"/>
            <a:ext cx="2613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Minimize Microservice Vulnerabilities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E36A0D-9168-7F59-C5F8-A7CE106E4D4F}"/>
              </a:ext>
            </a:extLst>
          </p:cNvPr>
          <p:cNvSpPr txBox="1"/>
          <p:nvPr/>
        </p:nvSpPr>
        <p:spPr>
          <a:xfrm>
            <a:off x="2162339" y="3186715"/>
            <a:ext cx="15054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Supply Chain Security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262A75-7F3F-FF32-B547-F097AB25F4FA}"/>
              </a:ext>
            </a:extLst>
          </p:cNvPr>
          <p:cNvSpPr txBox="1"/>
          <p:nvPr/>
        </p:nvSpPr>
        <p:spPr>
          <a:xfrm>
            <a:off x="1778734" y="1956785"/>
            <a:ext cx="19977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Monitoring, Logging, and Runtime Security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ctrTitle"/>
          </p:nvPr>
        </p:nvSpPr>
        <p:spPr>
          <a:xfrm>
            <a:off x="2546656" y="1855650"/>
            <a:ext cx="5972877" cy="143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Let’s talk about CKS exam experience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9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CKS Exam Categories </a:t>
            </a:r>
            <a:endParaRPr dirty="0"/>
          </a:p>
        </p:txBody>
      </p:sp>
      <p:sp>
        <p:nvSpPr>
          <p:cNvPr id="193" name="Google Shape;193;p33"/>
          <p:cNvSpPr txBox="1">
            <a:spLocks noGrp="1"/>
          </p:cNvSpPr>
          <p:nvPr>
            <p:ph type="body" idx="1"/>
          </p:nvPr>
        </p:nvSpPr>
        <p:spPr>
          <a:xfrm>
            <a:off x="509565" y="1303964"/>
            <a:ext cx="83295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7712" indent="-5143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</a:rPr>
              <a:t>Control Plane related (API Server, etc., kubelet etc.) </a:t>
            </a:r>
            <a:endParaRPr sz="24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747712" indent="-5143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</a:rPr>
              <a:t>General Kubernetes (Resources)</a:t>
            </a:r>
            <a:endParaRPr sz="24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233362" indent="0">
              <a:lnSpc>
                <a:spcPct val="115000"/>
              </a:lnSpc>
              <a:buNone/>
            </a:pPr>
            <a:endParaRPr sz="2400" dirty="0"/>
          </a:p>
          <a:p>
            <a:pPr marL="233362" indent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233362" indent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233362" indent="0">
              <a:buNone/>
            </a:pP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9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CKS Exam Categories </a:t>
            </a:r>
            <a:endParaRPr dirty="0"/>
          </a:p>
        </p:txBody>
      </p:sp>
      <p:sp>
        <p:nvSpPr>
          <p:cNvPr id="193" name="Google Shape;193;p33"/>
          <p:cNvSpPr txBox="1">
            <a:spLocks noGrp="1"/>
          </p:cNvSpPr>
          <p:nvPr>
            <p:ph type="body" idx="1"/>
          </p:nvPr>
        </p:nvSpPr>
        <p:spPr>
          <a:xfrm>
            <a:off x="570801" y="1149533"/>
            <a:ext cx="2848906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0375" indent="-3492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Control Plane related (API Server, etc., kubelet etc.) 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60375" indent="-3492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General Kubernetes (Resources)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233362" indent="0">
              <a:lnSpc>
                <a:spcPct val="115000"/>
              </a:lnSpc>
              <a:buNone/>
            </a:pPr>
            <a:endParaRPr sz="2000" dirty="0"/>
          </a:p>
          <a:p>
            <a:pPr marL="233362" indent="0">
              <a:lnSpc>
                <a:spcPct val="115000"/>
              </a:lnSpc>
              <a:spcBef>
                <a:spcPts val="0"/>
              </a:spcBef>
              <a:buNone/>
            </a:pPr>
            <a:endParaRPr sz="2000" dirty="0"/>
          </a:p>
          <a:p>
            <a:pPr marL="233362" indent="0">
              <a:lnSpc>
                <a:spcPct val="115000"/>
              </a:lnSpc>
              <a:spcBef>
                <a:spcPts val="0"/>
              </a:spcBef>
              <a:buNone/>
            </a:pPr>
            <a:endParaRPr sz="2000" dirty="0"/>
          </a:p>
          <a:p>
            <a:pPr marL="233362" indent="0">
              <a:buNone/>
            </a:pPr>
            <a:endParaRPr sz="2000" dirty="0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1A0B7247-FD57-38FB-1D5A-0FB164D3D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146" y="844062"/>
            <a:ext cx="6028077" cy="426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3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9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Control Plane related </a:t>
            </a:r>
            <a:endParaRPr dirty="0"/>
          </a:p>
        </p:txBody>
      </p:sp>
      <p:sp>
        <p:nvSpPr>
          <p:cNvPr id="203" name="Google Shape;203;p34"/>
          <p:cNvSpPr txBox="1">
            <a:spLocks noGrp="1"/>
          </p:cNvSpPr>
          <p:nvPr>
            <p:ph type="body" idx="1"/>
          </p:nvPr>
        </p:nvSpPr>
        <p:spPr>
          <a:xfrm>
            <a:off x="509565" y="1085839"/>
            <a:ext cx="83295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1. CIS Benchmarking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2. PodSecurityPolicy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3. ImagePolicyWebhook/AdmissionController 4. AuditPolicy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5. Falco/Sysdig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6. Tracing Container syscall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7. Hardening access to Kubernetes API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8. Troubleshoot API Server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233362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233362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23336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3336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33362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General Resource Related </a:t>
            </a:r>
            <a:endParaRPr dirty="0"/>
          </a:p>
        </p:txBody>
      </p:sp>
      <p:sp>
        <p:nvSpPr>
          <p:cNvPr id="213" name="Google Shape;213;p3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NetworkPolicy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RBAC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Secret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ServiceAccount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AppArmor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SecComp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233362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233362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233362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233362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233362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EEBA2-34AD-DFEB-5738-798C8098E2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34727" y="1308046"/>
            <a:ext cx="4000963" cy="316510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dk1"/>
                </a:solidFill>
                <a:highlight>
                  <a:srgbClr val="FFFFFF"/>
                </a:highlight>
              </a:rPr>
              <a:t>RuntimeClass</a:t>
            </a:r>
            <a:endParaRPr lang="en-US"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dk1"/>
                </a:solidFill>
                <a:highlight>
                  <a:srgbClr val="FFFFFF"/>
                </a:highlight>
              </a:rPr>
              <a:t>SecurityContext</a:t>
            </a: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</a:rPr>
              <a:t> &amp; Immutable Pods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</a:rPr>
              <a:t>Static Analysis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dk1"/>
                </a:solidFill>
                <a:highlight>
                  <a:srgbClr val="FFFFFF"/>
                </a:highlight>
              </a:rPr>
              <a:t>Trivy</a:t>
            </a:r>
            <a:endParaRPr lang="en-US"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</a:rPr>
              <a:t>Ingress TLS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</a:rPr>
              <a:t>OPA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>
            <a:spLocks noGrp="1"/>
          </p:cNvSpPr>
          <p:nvPr>
            <p:ph type="ctrTitle"/>
          </p:nvPr>
        </p:nvSpPr>
        <p:spPr>
          <a:xfrm>
            <a:off x="2591259" y="1488297"/>
            <a:ext cx="6106800" cy="143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 tips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CKS Tips</a:t>
            </a:r>
            <a:endParaRPr dirty="0"/>
          </a:p>
        </p:txBody>
      </p:sp>
      <p:sp>
        <p:nvSpPr>
          <p:cNvPr id="228" name="Google Shape;228;p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Timing is very important***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When possible do not type, copy names, yaml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--dry-run and </a:t>
            </a: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--force flags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Wingdings" panose="05000000000000000000" pitchFamily="2" charset="2"/>
              <a:buChar char="§"/>
            </a:pP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Take a backup of your files before making changes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Wingdings" panose="05000000000000000000" pitchFamily="2" charset="2"/>
              <a:buChar char="§"/>
            </a:pP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Careful with YAML (Indentation)  - Copy/paste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3362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2126E8-F3A5-8407-B88B-44E8CCF8A6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815" y="1241139"/>
            <a:ext cx="4000963" cy="3165102"/>
          </a:xfrm>
        </p:spPr>
        <p:txBody>
          <a:bodyPr/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Know your security tools : Falco,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Trivy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Kube-bench. 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Setup, Troubleshooting, Tracing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uFill>
                  <a:noFill/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Editor.cilium.io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Network policy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Locally - K3s, Kind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695D46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Cloud - managed Kubernetes like Civo, GKE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>
            <a:spLocks noGrp="1"/>
          </p:cNvSpPr>
          <p:nvPr>
            <p:ph type="title"/>
          </p:nvPr>
        </p:nvSpPr>
        <p:spPr>
          <a:xfrm>
            <a:off x="509565" y="120833"/>
            <a:ext cx="8329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Practice, Practice, Practice</a:t>
            </a:r>
            <a:endParaRPr dirty="0"/>
          </a:p>
        </p:txBody>
      </p:sp>
      <p:sp>
        <p:nvSpPr>
          <p:cNvPr id="238" name="Google Shape;238;p38"/>
          <p:cNvSpPr txBox="1">
            <a:spLocks noGrp="1"/>
          </p:cNvSpPr>
          <p:nvPr>
            <p:ph type="body" idx="1"/>
          </p:nvPr>
        </p:nvSpPr>
        <p:spPr>
          <a:xfrm>
            <a:off x="509565" y="850481"/>
            <a:ext cx="83295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dirty="0"/>
              <a:t>Killer Shell Simulator sessions - Must do - harder than the actual exam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dirty="0"/>
              <a:t>KodeKloud mock exams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dirty="0"/>
              <a:t>AcloudGuru mock exams 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dirty="0"/>
              <a:t>Vagrant cluster -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https://github.com/scriptcamp/vagrant-kubeadm-kubernetes</a:t>
            </a:r>
            <a:r>
              <a:rPr lang="en" dirty="0"/>
              <a:t> 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https://www.killershell.com</a:t>
            </a:r>
            <a:endParaRPr dirty="0">
              <a:solidFill>
                <a:schemeClr val="dk2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§"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https://labs.play-with-k8s.com</a:t>
            </a:r>
            <a:r>
              <a:rPr lang="en" dirty="0">
                <a:solidFill>
                  <a:schemeClr val="dk2"/>
                </a:solidFill>
              </a:rPr>
              <a:t> </a:t>
            </a:r>
            <a:endParaRPr dirty="0">
              <a:solidFill>
                <a:schemeClr val="dk2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u="sng" dirty="0">
                <a:solidFill>
                  <a:schemeClr val="hlink"/>
                </a:solidFill>
                <a:hlinkClick r:id="rId6"/>
              </a:rPr>
              <a:t>https://www.katacoda.com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u="sng" dirty="0">
                <a:solidFill>
                  <a:schemeClr val="hlink"/>
                </a:solidFill>
                <a:hlinkClick r:id="rId7"/>
              </a:rPr>
              <a:t>https://www.killercoda.com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" dirty="0"/>
              <a:t>Saiyam’s “Learn </a:t>
            </a:r>
            <a:r>
              <a:rPr lang="en" dirty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CKS Scenarios” book </a:t>
            </a:r>
            <a:endParaRPr dirty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3336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3336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3336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3336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33362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Google Shape;89;p19">
            <a:extLst>
              <a:ext uri="{FF2B5EF4-FFF2-40B4-BE49-F238E27FC236}">
                <a16:creationId xmlns:a16="http://schemas.microsoft.com/office/drawing/2014/main" id="{316EF158-A434-1E5A-7912-401F3E3E21B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18354">
            <a:off x="5072305" y="2898024"/>
            <a:ext cx="1499901" cy="2023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>
            <a:spLocks noGrp="1"/>
          </p:cNvSpPr>
          <p:nvPr>
            <p:ph type="ctrTitle"/>
          </p:nvPr>
        </p:nvSpPr>
        <p:spPr>
          <a:xfrm>
            <a:off x="2390538" y="2038424"/>
            <a:ext cx="6106800" cy="143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 - Falco, Docker best practices, Audit Logs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sdig Slides Template">
  <a:themeElements>
    <a:clrScheme name="Sysdig PPT Colors">
      <a:dk1>
        <a:srgbClr val="000000"/>
      </a:dk1>
      <a:lt1>
        <a:srgbClr val="FFFFFF"/>
      </a:lt1>
      <a:dk2>
        <a:srgbClr val="53565A"/>
      </a:dk2>
      <a:lt2>
        <a:srgbClr val="FFFFFF"/>
      </a:lt2>
      <a:accent1>
        <a:srgbClr val="00AEC7"/>
      </a:accent1>
      <a:accent2>
        <a:srgbClr val="165C7D"/>
      </a:accent2>
      <a:accent3>
        <a:srgbClr val="FF9E1B"/>
      </a:accent3>
      <a:accent4>
        <a:srgbClr val="FF5C39"/>
      </a:accent4>
      <a:accent5>
        <a:srgbClr val="009B77"/>
      </a:accent5>
      <a:accent6>
        <a:srgbClr val="6CC24A"/>
      </a:accent6>
      <a:hlink>
        <a:srgbClr val="00AEC7"/>
      </a:hlink>
      <a:folHlink>
        <a:srgbClr val="5356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492</Words>
  <Application>Microsoft Office PowerPoint</Application>
  <PresentationFormat>On-screen Show (16:9)</PresentationFormat>
  <Paragraphs>121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Wingdings</vt:lpstr>
      <vt:lpstr>Lato Black</vt:lpstr>
      <vt:lpstr>Open Sans</vt:lpstr>
      <vt:lpstr>Calibri</vt:lpstr>
      <vt:lpstr>Calibri Light</vt:lpstr>
      <vt:lpstr>Sysdig Slides Template</vt:lpstr>
      <vt:lpstr>Office Theme</vt:lpstr>
      <vt:lpstr>1_Office Theme</vt:lpstr>
      <vt:lpstr>PowerPoint Presentation</vt:lpstr>
      <vt:lpstr>PowerPoint Presentation</vt:lpstr>
      <vt:lpstr>PowerPoint Presentation</vt:lpstr>
      <vt:lpstr>Did you know that there is a new exam terminal?</vt:lpstr>
      <vt:lpstr>Tell me…</vt:lpstr>
      <vt:lpstr>The new CKS Exam Terminal</vt:lpstr>
      <vt:lpstr>Why Change?</vt:lpstr>
      <vt:lpstr>Challenges </vt:lpstr>
      <vt:lpstr>PowerPoint Presentation</vt:lpstr>
      <vt:lpstr>PowerPoint Presentation</vt:lpstr>
      <vt:lpstr>Certified Kubernetes Specialist</vt:lpstr>
      <vt:lpstr>CKS Exam V1.23 details</vt:lpstr>
      <vt:lpstr>CKS Exam outline</vt:lpstr>
      <vt:lpstr>Let’s talk about CKS exam experience</vt:lpstr>
      <vt:lpstr>CKS Exam Categories </vt:lpstr>
      <vt:lpstr>CKS Exam Categories </vt:lpstr>
      <vt:lpstr>Control Plane related </vt:lpstr>
      <vt:lpstr>General Resource Related </vt:lpstr>
      <vt:lpstr>Exam tips</vt:lpstr>
      <vt:lpstr>CKS Tips</vt:lpstr>
      <vt:lpstr>Practice, Practice, Practice</vt:lpstr>
      <vt:lpstr>Demo - Falco, Docker best practices, Audit Logs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Sharyn Fitzpatrick</dc:creator>
  <cp:lastModifiedBy>svcs_pdf</cp:lastModifiedBy>
  <cp:revision>3</cp:revision>
  <dcterms:modified xsi:type="dcterms:W3CDTF">2022-07-14T13:27:41Z</dcterms:modified>
</cp:coreProperties>
</file>